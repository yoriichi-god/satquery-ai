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35178ba2ec489d" /><Relationship Type="http://schemas.openxmlformats.org/officeDocument/2006/relationships/extended-properties" Target="/docProps/app.xml" Id="Rf75339733af74618" /><Relationship Type="http://schemas.openxmlformats.org/officeDocument/2006/relationships/officeDocument" Target="/ppt/presentation.xml" Id="Rccc8f9bd48d4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0a26f031634954"/>
  </p:sldMasterIdLst>
  <p:notesMasterIdLst>
    <p:notesMasterId xmlns:r="http://schemas.openxmlformats.org/officeDocument/2006/relationships" r:id="Rac47050328514d85"/>
  </p:notesMasterIdLst>
  <p:sldIdLst>
    <p:sldId xmlns:r="http://schemas.openxmlformats.org/officeDocument/2006/relationships" id="256" r:id="R415ffc5fb9f4408b"/>
    <p:sldId xmlns:r="http://schemas.openxmlformats.org/officeDocument/2006/relationships" id="257" r:id="R595f947322234437"/>
    <p:sldId xmlns:r="http://schemas.openxmlformats.org/officeDocument/2006/relationships" id="258" r:id="Rbc845c1d0c834dd0"/>
    <p:sldId xmlns:r="http://schemas.openxmlformats.org/officeDocument/2006/relationships" id="259" r:id="Re0658ba4ce754017"/>
    <p:sldId xmlns:r="http://schemas.openxmlformats.org/officeDocument/2006/relationships" id="260" r:id="R7e6a8cbca3204217"/>
    <p:sldId xmlns:r="http://schemas.openxmlformats.org/officeDocument/2006/relationships" id="261" r:id="Re9a935ec28ee4f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5274bc05fa46e0" /><Relationship Type="http://schemas.openxmlformats.org/officeDocument/2006/relationships/slideMaster" Target="/ppt/slideMasters/slideMaster1.xml" Id="Rf60a26f031634954" /><Relationship Type="http://schemas.openxmlformats.org/officeDocument/2006/relationships/notesMaster" Target="/ppt/notesMasters/notesMaster1.xml" Id="Rac47050328514d85" /><Relationship Type="http://schemas.openxmlformats.org/officeDocument/2006/relationships/presProps" Target="/ppt/presProps.xml" Id="R0a6b792a7f124328" /><Relationship Type="http://schemas.openxmlformats.org/officeDocument/2006/relationships/tableStyles" Target="/ppt/tableStyles.xml" Id="Rdbb8e84c0c37401b" /><Relationship Type="http://schemas.openxmlformats.org/officeDocument/2006/relationships/slide" Target="/ppt/slides/slide1.xml" Id="R415ffc5fb9f4408b" /><Relationship Type="http://schemas.openxmlformats.org/officeDocument/2006/relationships/slide" Target="/ppt/slides/slide2.xml" Id="R595f947322234437" /><Relationship Type="http://schemas.openxmlformats.org/officeDocument/2006/relationships/slide" Target="/ppt/slides/slide3.xml" Id="Rbc845c1d0c834dd0" /><Relationship Type="http://schemas.openxmlformats.org/officeDocument/2006/relationships/slide" Target="/ppt/slides/slide4.xml" Id="Re0658ba4ce754017" /><Relationship Type="http://schemas.openxmlformats.org/officeDocument/2006/relationships/slide" Target="/ppt/slides/slide5.xml" Id="R7e6a8cbca3204217" /><Relationship Type="http://schemas.openxmlformats.org/officeDocument/2006/relationships/slide" Target="/ppt/slides/slide6.xml" Id="Re9a935ec28ee4f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e368dfa78d4e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ff02fbf9fc4c68" /><Relationship Type="http://schemas.openxmlformats.org/officeDocument/2006/relationships/notesMaster" Target="/ppt/notesMasters/notesMaster1.xml" Id="R69e9464e532045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5760812154d47" /><Relationship Type="http://schemas.openxmlformats.org/officeDocument/2006/relationships/notesMaster" Target="/ppt/notesMasters/notesMaster1.xml" Id="R591555a325b440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c3a205325747a7" /><Relationship Type="http://schemas.openxmlformats.org/officeDocument/2006/relationships/notesMaster" Target="/ppt/notesMasters/notesMaster1.xml" Id="R817d59f94a9846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ad2cfcf9564e0e" /><Relationship Type="http://schemas.openxmlformats.org/officeDocument/2006/relationships/notesMaster" Target="/ppt/notesMasters/notesMaster1.xml" Id="R6f415a42949949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cf44a2faca4014" /><Relationship Type="http://schemas.openxmlformats.org/officeDocument/2006/relationships/notesMaster" Target="/ppt/notesMasters/notesMaster1.xml" Id="R2c63d698cddb4b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92c7c0d91a4428" /><Relationship Type="http://schemas.openxmlformats.org/officeDocument/2006/relationships/notesMaster" Target="/ppt/notesMasters/notesMaster1.xml" Id="Rdca2faefa7b141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710b1bedd4c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3b4df7b444e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7129fdc2e49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ebf5086f441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4d5ae8fe34c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5987b6bcf4e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9E65BF-18C2-471F-BCE5-67A89A5B49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95791A-99C5-4499-8F7D-5F9D10255F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0A3FE5-1483-47F9-95F1-4E7BB321F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A45FFF-0A02-413A-BAF7-50F4301A0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38B4C5-2FB6-448D-AD86-44BB66131D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CDA39B-859D-49F3-AD3D-F6C03C3654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9C26C5-B826-45F8-A7E7-24F83572B9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4E1BA4-0684-419E-AB13-E5E670D791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96CD15-6BB8-4B49-A160-35CB4A598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4D2EEC-1E92-44FF-9177-8749CE5D1A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802664801c4329" /><Relationship Type="http://schemas.openxmlformats.org/officeDocument/2006/relationships/slideLayout" Target="/ppt/slideLayouts/slideLayout1.xml" Id="R5febab729e8d4eb9" /><Relationship Type="http://schemas.openxmlformats.org/officeDocument/2006/relationships/slideLayout" Target="/ppt/slideLayouts/slideLayout2.xml" Id="R0c65c4c5f7314f2f" /><Relationship Type="http://schemas.openxmlformats.org/officeDocument/2006/relationships/slideLayout" Target="/ppt/slideLayouts/slideLayout3.xml" Id="R6cd8e047775548a7" /><Relationship Type="http://schemas.openxmlformats.org/officeDocument/2006/relationships/slideLayout" Target="/ppt/slideLayouts/slideLayout4.xml" Id="R209046c08c0948fb" /><Relationship Type="http://schemas.openxmlformats.org/officeDocument/2006/relationships/slideLayout" Target="/ppt/slideLayouts/slideLayout5.xml" Id="R1cacdc2aa6044030" /><Relationship Type="http://schemas.openxmlformats.org/officeDocument/2006/relationships/slideLayout" Target="/ppt/slideLayouts/slideLayout6.xml" Id="Rc8f4d62f1a464a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ebab729e8d4eb9"/>
    <p:sldLayoutId xmlns:r="http://schemas.openxmlformats.org/officeDocument/2006/relationships" id="2147483650" r:id="R0c65c4c5f7314f2f"/>
    <p:sldLayoutId xmlns:r="http://schemas.openxmlformats.org/officeDocument/2006/relationships" id="2147483651" r:id="R6cd8e047775548a7"/>
    <p:sldLayoutId xmlns:r="http://schemas.openxmlformats.org/officeDocument/2006/relationships" id="2147483652" r:id="R209046c08c0948fb"/>
    <p:sldLayoutId xmlns:r="http://schemas.openxmlformats.org/officeDocument/2006/relationships" id="2147483653" r:id="R1cacdc2aa6044030"/>
    <p:sldLayoutId xmlns:r="http://schemas.openxmlformats.org/officeDocument/2006/relationships" id="2147483654" r:id="Rc8f4d62f1a464a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af292f9de4e1b" /><Relationship Type="http://schemas.openxmlformats.org/officeDocument/2006/relationships/notesSlide" Target="/ppt/notesSlides/notesSlide1.xml" Id="R3254e16d188f4e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11777f6464989" /><Relationship Type="http://schemas.openxmlformats.org/officeDocument/2006/relationships/notesSlide" Target="/ppt/notesSlides/notesSlide2.xml" Id="Rfa177dea99924d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f6e00266846b3" /><Relationship Type="http://schemas.openxmlformats.org/officeDocument/2006/relationships/notesSlide" Target="/ppt/notesSlides/notesSlide3.xml" Id="Rab85284ce2ea41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1b0feb15e41c0" /><Relationship Type="http://schemas.openxmlformats.org/officeDocument/2006/relationships/notesSlide" Target="/ppt/notesSlides/notesSlide4.xml" Id="R657d9a69885743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9cde64d50146cf" /><Relationship Type="http://schemas.openxmlformats.org/officeDocument/2006/relationships/notesSlide" Target="/ppt/notesSlides/notesSlide5.xml" Id="R900a036af92b47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3bc3680b549ed" /><Relationship Type="http://schemas.openxmlformats.org/officeDocument/2006/relationships/notesSlide" Target="/ppt/notesSlides/notesSlide6.xml" Id="R95a0cce961994e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EE5F2-FE96-4065-AD68-9739D9EA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>
                <a:solidFill>
                  <a:srgbClr val="FFFFFF"/>
                </a:solidFill>
              </a:defRPr>
            </a:defPPr>
            <a:lvl1pPr>
              <a:defRPr sz="4650">
                <a:solidFill>
                  <a:srgbClr val="FFFFFF"/>
                </a:solidFill>
              </a:defRPr>
            </a:lvl1pPr>
            <a:lvl2pPr>
              <a:defRPr sz="4650">
                <a:solidFill>
                  <a:srgbClr val="FFFFFF"/>
                </a:solidFill>
              </a:defRPr>
            </a:lvl2pPr>
            <a:lvl3pPr>
              <a:defRPr sz="4650">
                <a:solidFill>
                  <a:srgbClr val="FFFFFF"/>
                </a:solidFill>
              </a:defRPr>
            </a:lvl3pPr>
            <a:lvl4pPr>
              <a:defRPr sz="4650">
                <a:solidFill>
                  <a:srgbClr val="FFFFFF"/>
                </a:solidFill>
              </a:defRPr>
            </a:lvl4pPr>
            <a:lvl5pPr>
              <a:defRPr sz="4650">
                <a:solidFill>
                  <a:srgbClr val="FFFFFF"/>
                </a:solidFill>
              </a:defRPr>
            </a:lvl5pPr>
            <a:lvl6pPr>
              <a:defRPr sz="4650">
                <a:solidFill>
                  <a:srgbClr val="FFFFFF"/>
                </a:solidFill>
              </a:defRPr>
            </a:lvl6pPr>
            <a:lvl7pPr>
              <a:defRPr sz="4650">
                <a:solidFill>
                  <a:srgbClr val="FFFFFF"/>
                </a:solidFill>
              </a:defRPr>
            </a:lvl7pPr>
            <a:lvl8pPr>
              <a:defRPr sz="4650">
                <a:solidFill>
                  <a:srgbClr val="FFFFFF"/>
                </a:solidFill>
              </a:defRPr>
            </a:lvl8pPr>
            <a:lvl9pPr>
              <a:defRPr sz="46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650">
                <a:solidFill>
                  <a:srgbClr val="FFFFFF"/>
                </a:solidFill>
              </a:defRPr>
            </a:pPr>
            <a:r>
              <a:rPr sz="4650">
                <a:solidFill>
                  <a:srgbClr val="FFFFFF"/>
                </a:solidFill>
              </a:rPr>
              <a:t>THE ROAD 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209D4-3E81-48BE-BC26-4458EE5B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>
                <a:solidFill>
                  <a:srgbClr val="DEE4EB"/>
                </a:solidFill>
              </a:defRPr>
            </a:defPPr>
            <a:lvl1pPr>
              <a:defRPr sz="2700">
                <a:solidFill>
                  <a:srgbClr val="DEE4EB"/>
                </a:solidFill>
              </a:defRPr>
            </a:lvl1pPr>
            <a:lvl2pPr>
              <a:defRPr sz="2700">
                <a:solidFill>
                  <a:srgbClr val="DEE4EB"/>
                </a:solidFill>
              </a:defRPr>
            </a:lvl2pPr>
            <a:lvl3pPr>
              <a:defRPr sz="2700">
                <a:solidFill>
                  <a:srgbClr val="DEE4EB"/>
                </a:solidFill>
              </a:defRPr>
            </a:lvl3pPr>
            <a:lvl4pPr>
              <a:defRPr sz="2700">
                <a:solidFill>
                  <a:srgbClr val="DEE4EB"/>
                </a:solidFill>
              </a:defRPr>
            </a:lvl4pPr>
            <a:lvl5pPr>
              <a:defRPr sz="2700">
                <a:solidFill>
                  <a:srgbClr val="DEE4EB"/>
                </a:solidFill>
              </a:defRPr>
            </a:lvl5pPr>
            <a:lvl6pPr>
              <a:defRPr sz="2700">
                <a:solidFill>
                  <a:srgbClr val="DEE4EB"/>
                </a:solidFill>
              </a:defRPr>
            </a:lvl6pPr>
            <a:lvl7pPr>
              <a:defRPr sz="2700">
                <a:solidFill>
                  <a:srgbClr val="DEE4EB"/>
                </a:solidFill>
              </a:defRPr>
            </a:lvl7pPr>
            <a:lvl8pPr>
              <a:defRPr sz="2700">
                <a:solidFill>
                  <a:srgbClr val="DEE4EB"/>
                </a:solidFill>
              </a:defRPr>
            </a:lvl8pPr>
            <a:lvl9pPr>
              <a:defRPr sz="2700">
                <a:solidFill>
                  <a:srgbClr val="DEE4EB"/>
                </a:solidFill>
              </a:defRPr>
            </a:lvl9pPr>
          </a:lstStyle>
          <a:p xmlns:a="http://schemas.openxmlformats.org/drawingml/2006/main">
            <a:pPr>
              <a:defRPr sz="2700">
                <a:solidFill>
                  <a:srgbClr val="DEE4EB"/>
                </a:solidFill>
              </a:defRPr>
            </a:pPr>
            <a:r>
              <a:rPr sz="2700">
                <a:solidFill>
                  <a:srgbClr val="DEE4EB"/>
                </a:solidFill>
              </a:rPr>
              <a:t>SATQuery AI · JAI 2026</a:t>
            </a:r>
          </a:p>
          <a:p xmlns:a="http://schemas.openxmlformats.org/drawingml/2006/main">
            <a:pPr>
              <a:defRPr sz="2700">
                <a:solidFill>
                  <a:srgbClr val="DEE4EB"/>
                </a:solidFill>
              </a:defRPr>
            </a:pPr>
            <a:r>
              <a:rPr sz="2700">
                <a:solidFill>
                  <a:srgbClr val="DEE4EB"/>
                </a:solidFill>
              </a:rPr>
              <a:t>Syapru Besi, Nepal · August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C0954-6E64-493A-866C-503A3276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A9C9D5"/>
                </a:solidFill>
              </a:defRPr>
            </a:defPPr>
            <a:lvl1pPr>
              <a:defRPr sz="1575">
                <a:solidFill>
                  <a:srgbClr val="A9C9D5"/>
                </a:solidFill>
              </a:defRPr>
            </a:lvl1pPr>
            <a:lvl2pPr>
              <a:defRPr sz="1575">
                <a:solidFill>
                  <a:srgbClr val="A9C9D5"/>
                </a:solidFill>
              </a:defRPr>
            </a:lvl2pPr>
            <a:lvl3pPr>
              <a:defRPr sz="1575">
                <a:solidFill>
                  <a:srgbClr val="A9C9D5"/>
                </a:solidFill>
              </a:defRPr>
            </a:lvl3pPr>
            <a:lvl4pPr>
              <a:defRPr sz="1575">
                <a:solidFill>
                  <a:srgbClr val="A9C9D5"/>
                </a:solidFill>
              </a:defRPr>
            </a:lvl4pPr>
            <a:lvl5pPr>
              <a:defRPr sz="1575">
                <a:solidFill>
                  <a:srgbClr val="A9C9D5"/>
                </a:solidFill>
              </a:defRPr>
            </a:lvl5pPr>
            <a:lvl6pPr>
              <a:defRPr sz="1575">
                <a:solidFill>
                  <a:srgbClr val="A9C9D5"/>
                </a:solidFill>
              </a:defRPr>
            </a:lvl6pPr>
            <a:lvl7pPr>
              <a:defRPr sz="1575">
                <a:solidFill>
                  <a:srgbClr val="A9C9D5"/>
                </a:solidFill>
              </a:defRPr>
            </a:lvl7pPr>
            <a:lvl8pPr>
              <a:defRPr sz="1575">
                <a:solidFill>
                  <a:srgbClr val="A9C9D5"/>
                </a:solidFill>
              </a:defRPr>
            </a:lvl8pPr>
            <a:lvl9pPr>
              <a:defRPr sz="1575">
                <a:solidFill>
                  <a:srgbClr val="A9C9D5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Which roads and homes may need inspection?</a:t>
            </a:r>
          </a:p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A source-based investigation, with uncertainty visible.</a:t>
            </a:r>
          </a:p>
        </p:txBody>
      </p:sp>
    </p:spTree>
    <p:extLst>
      <p:ext uri="{BB962C8B-B14F-4D97-AF65-F5344CB8AC3E}">
        <p14:creationId xmlns:p14="http://schemas.microsoft.com/office/powerpoint/2010/main" val="1876518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1F5E3-6F2F-44CD-B361-54C27AAC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FFFFFF"/>
                </a:solidFill>
              </a:defRPr>
            </a:defPPr>
            <a:lvl1pPr>
              <a:defRPr sz="3450">
                <a:solidFill>
                  <a:srgbClr val="FFFFFF"/>
                </a:solidFill>
              </a:defRPr>
            </a:lvl1pPr>
            <a:lvl2pPr>
              <a:defRPr sz="3450">
                <a:solidFill>
                  <a:srgbClr val="FFFFFF"/>
                </a:solidFill>
              </a:defRPr>
            </a:lvl2pPr>
            <a:lvl3pPr>
              <a:defRPr sz="3450">
                <a:solidFill>
                  <a:srgbClr val="FFFFFF"/>
                </a:solidFill>
              </a:defRPr>
            </a:lvl3pPr>
            <a:lvl4pPr>
              <a:defRPr sz="3450">
                <a:solidFill>
                  <a:srgbClr val="FFFFFF"/>
                </a:solidFill>
              </a:defRPr>
            </a:lvl4pPr>
            <a:lvl5pPr>
              <a:defRPr sz="3450">
                <a:solidFill>
                  <a:srgbClr val="FFFFFF"/>
                </a:solidFill>
              </a:defRPr>
            </a:lvl5pPr>
            <a:lvl6pPr>
              <a:defRPr sz="3450">
                <a:solidFill>
                  <a:srgbClr val="FFFFFF"/>
                </a:solidFill>
              </a:defRPr>
            </a:lvl6pPr>
            <a:lvl7pPr>
              <a:defRPr sz="3450">
                <a:solidFill>
                  <a:srgbClr val="FFFFFF"/>
                </a:solidFill>
              </a:defRPr>
            </a:lvl7pPr>
            <a:lvl8pPr>
              <a:defRPr sz="3450">
                <a:solidFill>
                  <a:srgbClr val="FFFFFF"/>
                </a:solidFill>
              </a:defRPr>
            </a:lvl8pPr>
            <a:lvl9pPr>
              <a:defRPr sz="34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>
                <a:solidFill>
                  <a:srgbClr val="FFFFFF"/>
                </a:solidFill>
              </a:defRPr>
            </a:pPr>
            <a:r>
              <a:rPr sz="3450">
                <a:solidFill>
                  <a:srgbClr val="FFFFFF"/>
                </a:solidFill>
              </a:rPr>
              <a:t>The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D3096-C29B-4D49-9C22-2DB2DD6D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DEE4EB"/>
                </a:solidFill>
              </a:defRPr>
            </a:defPPr>
            <a:lvl1pPr>
              <a:defRPr sz="2100">
                <a:solidFill>
                  <a:srgbClr val="DEE4EB"/>
                </a:solidFill>
              </a:defRPr>
            </a:lvl1pPr>
            <a:lvl2pPr>
              <a:defRPr sz="2100">
                <a:solidFill>
                  <a:srgbClr val="DEE4EB"/>
                </a:solidFill>
              </a:defRPr>
            </a:lvl2pPr>
            <a:lvl3pPr>
              <a:defRPr sz="2100">
                <a:solidFill>
                  <a:srgbClr val="DEE4EB"/>
                </a:solidFill>
              </a:defRPr>
            </a:lvl3pPr>
            <a:lvl4pPr>
              <a:defRPr sz="2100">
                <a:solidFill>
                  <a:srgbClr val="DEE4EB"/>
                </a:solidFill>
              </a:defRPr>
            </a:lvl4pPr>
            <a:lvl5pPr>
              <a:defRPr sz="2100">
                <a:solidFill>
                  <a:srgbClr val="DEE4EB"/>
                </a:solidFill>
              </a:defRPr>
            </a:lvl5pPr>
            <a:lvl6pPr>
              <a:defRPr sz="2100">
                <a:solidFill>
                  <a:srgbClr val="DEE4EB"/>
                </a:solidFill>
              </a:defRPr>
            </a:lvl6pPr>
            <a:lvl7pPr>
              <a:defRPr sz="2100">
                <a:solidFill>
                  <a:srgbClr val="DEE4EB"/>
                </a:solidFill>
              </a:defRPr>
            </a:lvl7pPr>
            <a:lvl8pPr>
              <a:defRPr sz="2100">
                <a:solidFill>
                  <a:srgbClr val="DEE4EB"/>
                </a:solidFill>
              </a:defRPr>
            </a:lvl8pPr>
            <a:lvl9pPr>
              <a:defRPr sz="2100">
                <a:solidFill>
                  <a:srgbClr val="DEE4EB"/>
                </a:solidFill>
              </a:defRPr>
            </a:lvl9pPr>
          </a:lstStyle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Sentinel-1 SAR: 16 → 28 August 2026</a:t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Optical RGB: 22 → 27 August 2026</a:t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Historical OSM: 25 August 2026</a:t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Terrain: retained Copernicus 90 m DSM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C3E44-6975-4E05-B492-4C07D538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A9C9D5"/>
                </a:solidFill>
              </a:defRPr>
            </a:defPPr>
            <a:lvl1pPr>
              <a:defRPr sz="1575">
                <a:solidFill>
                  <a:srgbClr val="A9C9D5"/>
                </a:solidFill>
              </a:defRPr>
            </a:lvl1pPr>
            <a:lvl2pPr>
              <a:defRPr sz="1575">
                <a:solidFill>
                  <a:srgbClr val="A9C9D5"/>
                </a:solidFill>
              </a:defRPr>
            </a:lvl2pPr>
            <a:lvl3pPr>
              <a:defRPr sz="1575">
                <a:solidFill>
                  <a:srgbClr val="A9C9D5"/>
                </a:solidFill>
              </a:defRPr>
            </a:lvl3pPr>
            <a:lvl4pPr>
              <a:defRPr sz="1575">
                <a:solidFill>
                  <a:srgbClr val="A9C9D5"/>
                </a:solidFill>
              </a:defRPr>
            </a:lvl4pPr>
            <a:lvl5pPr>
              <a:defRPr sz="1575">
                <a:solidFill>
                  <a:srgbClr val="A9C9D5"/>
                </a:solidFill>
              </a:defRPr>
            </a:lvl5pPr>
            <a:lvl6pPr>
              <a:defRPr sz="1575">
                <a:solidFill>
                  <a:srgbClr val="A9C9D5"/>
                </a:solidFill>
              </a:defRPr>
            </a:lvl6pPr>
            <a:lvl7pPr>
              <a:defRPr sz="1575">
                <a:solidFill>
                  <a:srgbClr val="A9C9D5"/>
                </a:solidFill>
              </a:defRPr>
            </a:lvl7pPr>
            <a:lvl8pPr>
              <a:defRPr sz="1575">
                <a:solidFill>
                  <a:srgbClr val="A9C9D5"/>
                </a:solidFill>
              </a:defRPr>
            </a:lvl8pPr>
            <a:lvl9pPr>
              <a:defRPr sz="1575">
                <a:solidFill>
                  <a:srgbClr val="A9C9D5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Different dates and valid populations remain separate.</a:t>
            </a:r>
          </a:p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Grid equality does not establish physical co-registration.</a:t>
            </a:r>
          </a:p>
        </p:txBody>
      </p:sp>
    </p:spTree>
    <p:extLst>
      <p:ext uri="{BB962C8B-B14F-4D97-AF65-F5344CB8AC3E}">
        <p14:creationId xmlns:p14="http://schemas.microsoft.com/office/powerpoint/2010/main" val="1690179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728A9-B1F2-428B-A36B-0A7B3C11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FFFFFF"/>
                </a:solidFill>
              </a:defRPr>
            </a:defPPr>
            <a:lvl1pPr>
              <a:defRPr sz="3450">
                <a:solidFill>
                  <a:srgbClr val="FFFFFF"/>
                </a:solidFill>
              </a:defRPr>
            </a:lvl1pPr>
            <a:lvl2pPr>
              <a:defRPr sz="3450">
                <a:solidFill>
                  <a:srgbClr val="FFFFFF"/>
                </a:solidFill>
              </a:defRPr>
            </a:lvl2pPr>
            <a:lvl3pPr>
              <a:defRPr sz="3450">
                <a:solidFill>
                  <a:srgbClr val="FFFFFF"/>
                </a:solidFill>
              </a:defRPr>
            </a:lvl3pPr>
            <a:lvl4pPr>
              <a:defRPr sz="3450">
                <a:solidFill>
                  <a:srgbClr val="FFFFFF"/>
                </a:solidFill>
              </a:defRPr>
            </a:lvl4pPr>
            <a:lvl5pPr>
              <a:defRPr sz="3450">
                <a:solidFill>
                  <a:srgbClr val="FFFFFF"/>
                </a:solidFill>
              </a:defRPr>
            </a:lvl5pPr>
            <a:lvl6pPr>
              <a:defRPr sz="3450">
                <a:solidFill>
                  <a:srgbClr val="FFFFFF"/>
                </a:solidFill>
              </a:defRPr>
            </a:lvl6pPr>
            <a:lvl7pPr>
              <a:defRPr sz="3450">
                <a:solidFill>
                  <a:srgbClr val="FFFFFF"/>
                </a:solidFill>
              </a:defRPr>
            </a:lvl7pPr>
            <a:lvl8pPr>
              <a:defRPr sz="3450">
                <a:solidFill>
                  <a:srgbClr val="FFFFFF"/>
                </a:solidFill>
              </a:defRPr>
            </a:lvl8pPr>
            <a:lvl9pPr>
              <a:defRPr sz="34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>
                <a:solidFill>
                  <a:srgbClr val="FFFFFF"/>
                </a:solidFill>
              </a:defRPr>
            </a:pPr>
            <a:r>
              <a:rPr sz="3450">
                <a:solidFill>
                  <a:srgbClr val="FFFFFF"/>
                </a:solidFill>
              </a:rPr>
              <a:t>Separate change candidates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4D65A-A2B4-426B-80DC-AC04D34C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DEE4EB"/>
                </a:solidFill>
              </a:defRPr>
            </a:defPPr>
            <a:lvl1pPr>
              <a:defRPr sz="2100">
                <a:solidFill>
                  <a:srgbClr val="DEE4EB"/>
                </a:solidFill>
              </a:defRPr>
            </a:lvl1pPr>
            <a:lvl2pPr>
              <a:defRPr sz="2100">
                <a:solidFill>
                  <a:srgbClr val="DEE4EB"/>
                </a:solidFill>
              </a:defRPr>
            </a:lvl2pPr>
            <a:lvl3pPr>
              <a:defRPr sz="2100">
                <a:solidFill>
                  <a:srgbClr val="DEE4EB"/>
                </a:solidFill>
              </a:defRPr>
            </a:lvl3pPr>
            <a:lvl4pPr>
              <a:defRPr sz="2100">
                <a:solidFill>
                  <a:srgbClr val="DEE4EB"/>
                </a:solidFill>
              </a:defRPr>
            </a:lvl4pPr>
            <a:lvl5pPr>
              <a:defRPr sz="2100">
                <a:solidFill>
                  <a:srgbClr val="DEE4EB"/>
                </a:solidFill>
              </a:defRPr>
            </a:lvl5pPr>
            <a:lvl6pPr>
              <a:defRPr sz="2100">
                <a:solidFill>
                  <a:srgbClr val="DEE4EB"/>
                </a:solidFill>
              </a:defRPr>
            </a:lvl6pPr>
            <a:lvl7pPr>
              <a:defRPr sz="2100">
                <a:solidFill>
                  <a:srgbClr val="DEE4EB"/>
                </a:solidFill>
              </a:defRPr>
            </a:lvl7pPr>
            <a:lvl8pPr>
              <a:defRPr sz="2100">
                <a:solidFill>
                  <a:srgbClr val="DEE4EB"/>
                </a:solidFill>
              </a:defRPr>
            </a:lvl8pPr>
            <a:lvl9pPr>
              <a:defRPr sz="2100">
                <a:solidFill>
                  <a:srgbClr val="DEE4EB"/>
                </a:solidFill>
              </a:defRPr>
            </a:lvl9pPr>
          </a:lstStyle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WATER: 9.56 ha · 956 candidates / 99,858 valid pixels</a:t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2 mapped buildings · 185.846 m roads / bridges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DEBRIS PROXY: 10.41 ha · 1,041 / 30,239 valid pixels</a:t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71 mapped buildings · 1,458.934 m roads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F34E3-82D6-4BAE-939B-1499D4FD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A9C9D5"/>
                </a:solidFill>
              </a:defRPr>
            </a:defPPr>
            <a:lvl1pPr>
              <a:defRPr sz="1575">
                <a:solidFill>
                  <a:srgbClr val="A9C9D5"/>
                </a:solidFill>
              </a:defRPr>
            </a:lvl1pPr>
            <a:lvl2pPr>
              <a:defRPr sz="1575">
                <a:solidFill>
                  <a:srgbClr val="A9C9D5"/>
                </a:solidFill>
              </a:defRPr>
            </a:lvl2pPr>
            <a:lvl3pPr>
              <a:defRPr sz="1575">
                <a:solidFill>
                  <a:srgbClr val="A9C9D5"/>
                </a:solidFill>
              </a:defRPr>
            </a:lvl3pPr>
            <a:lvl4pPr>
              <a:defRPr sz="1575">
                <a:solidFill>
                  <a:srgbClr val="A9C9D5"/>
                </a:solidFill>
              </a:defRPr>
            </a:lvl4pPr>
            <a:lvl5pPr>
              <a:defRPr sz="1575">
                <a:solidFill>
                  <a:srgbClr val="A9C9D5"/>
                </a:solidFill>
              </a:defRPr>
            </a:lvl5pPr>
            <a:lvl6pPr>
              <a:defRPr sz="1575">
                <a:solidFill>
                  <a:srgbClr val="A9C9D5"/>
                </a:solidFill>
              </a:defRPr>
            </a:lvl6pPr>
            <a:lvl7pPr>
              <a:defRPr sz="1575">
                <a:solidFill>
                  <a:srgbClr val="A9C9D5"/>
                </a:solidFill>
              </a:defRPr>
            </a:lvl7pPr>
            <a:lvl8pPr>
              <a:defRPr sz="1575">
                <a:solidFill>
                  <a:srgbClr val="A9C9D5"/>
                </a:solidFill>
              </a:defRPr>
            </a:lvl8pPr>
            <a:lvl9pPr>
              <a:defRPr sz="1575">
                <a:solidFill>
                  <a:srgbClr val="A9C9D5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Possible exposure, not confirmed damage or closure.</a:t>
            </a:r>
          </a:p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Do not sum infrastructure totals across layers.</a:t>
            </a:r>
          </a:p>
        </p:txBody>
      </p:sp>
    </p:spTree>
    <p:extLst>
      <p:ext uri="{BB962C8B-B14F-4D97-AF65-F5344CB8AC3E}">
        <p14:creationId xmlns:p14="http://schemas.microsoft.com/office/powerpoint/2010/main" val="858151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3634A-7FED-4015-BC9E-593A0D0F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FFFFFF"/>
                </a:solidFill>
              </a:defRPr>
            </a:defPPr>
            <a:lvl1pPr>
              <a:defRPr sz="3450">
                <a:solidFill>
                  <a:srgbClr val="FFFFFF"/>
                </a:solidFill>
              </a:defRPr>
            </a:lvl1pPr>
            <a:lvl2pPr>
              <a:defRPr sz="3450">
                <a:solidFill>
                  <a:srgbClr val="FFFFFF"/>
                </a:solidFill>
              </a:defRPr>
            </a:lvl2pPr>
            <a:lvl3pPr>
              <a:defRPr sz="3450">
                <a:solidFill>
                  <a:srgbClr val="FFFFFF"/>
                </a:solidFill>
              </a:defRPr>
            </a:lvl3pPr>
            <a:lvl4pPr>
              <a:defRPr sz="3450">
                <a:solidFill>
                  <a:srgbClr val="FFFFFF"/>
                </a:solidFill>
              </a:defRPr>
            </a:lvl4pPr>
            <a:lvl5pPr>
              <a:defRPr sz="3450">
                <a:solidFill>
                  <a:srgbClr val="FFFFFF"/>
                </a:solidFill>
              </a:defRPr>
            </a:lvl5pPr>
            <a:lvl6pPr>
              <a:defRPr sz="3450">
                <a:solidFill>
                  <a:srgbClr val="FFFFFF"/>
                </a:solidFill>
              </a:defRPr>
            </a:lvl6pPr>
            <a:lvl7pPr>
              <a:defRPr sz="3450">
                <a:solidFill>
                  <a:srgbClr val="FFFFFF"/>
                </a:solidFill>
              </a:defRPr>
            </a:lvl7pPr>
            <a:lvl8pPr>
              <a:defRPr sz="3450">
                <a:solidFill>
                  <a:srgbClr val="FFFFFF"/>
                </a:solidFill>
              </a:defRPr>
            </a:lvl8pPr>
            <a:lvl9pPr>
              <a:defRPr sz="34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>
                <a:solidFill>
                  <a:srgbClr val="FFFFFF"/>
                </a:solidFill>
              </a:defRPr>
            </a:pPr>
            <a:r>
              <a:rPr sz="3450">
                <a:solidFill>
                  <a:srgbClr val="FFFFFF"/>
                </a:solidFill>
              </a:rPr>
              <a:t>The working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6AE59-FE0C-4BE1-B120-101E3C5C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DEE4EB"/>
                </a:solidFill>
              </a:defRPr>
            </a:defPPr>
            <a:lvl1pPr>
              <a:defRPr sz="2100">
                <a:solidFill>
                  <a:srgbClr val="DEE4EB"/>
                </a:solidFill>
              </a:defRPr>
            </a:lvl1pPr>
            <a:lvl2pPr>
              <a:defRPr sz="2100">
                <a:solidFill>
                  <a:srgbClr val="DEE4EB"/>
                </a:solidFill>
              </a:defRPr>
            </a:lvl2pPr>
            <a:lvl3pPr>
              <a:defRPr sz="2100">
                <a:solidFill>
                  <a:srgbClr val="DEE4EB"/>
                </a:solidFill>
              </a:defRPr>
            </a:lvl3pPr>
            <a:lvl4pPr>
              <a:defRPr sz="2100">
                <a:solidFill>
                  <a:srgbClr val="DEE4EB"/>
                </a:solidFill>
              </a:defRPr>
            </a:lvl4pPr>
            <a:lvl5pPr>
              <a:defRPr sz="2100">
                <a:solidFill>
                  <a:srgbClr val="DEE4EB"/>
                </a:solidFill>
              </a:defRPr>
            </a:lvl5pPr>
            <a:lvl6pPr>
              <a:defRPr sz="2100">
                <a:solidFill>
                  <a:srgbClr val="DEE4EB"/>
                </a:solidFill>
              </a:defRPr>
            </a:lvl6pPr>
            <a:lvl7pPr>
              <a:defRPr sz="2100">
                <a:solidFill>
                  <a:srgbClr val="DEE4EB"/>
                </a:solidFill>
              </a:defRPr>
            </a:lvl7pPr>
            <a:lvl8pPr>
              <a:defRPr sz="2100">
                <a:solidFill>
                  <a:srgbClr val="DEE4EB"/>
                </a:solidFill>
              </a:defRPr>
            </a:lvl8pPr>
            <a:lvl9pPr>
              <a:defRPr sz="2100">
                <a:solidFill>
                  <a:srgbClr val="DEE4EB"/>
                </a:solidFill>
              </a:defRPr>
            </a:lvl9pPr>
          </a:lstStyle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Before → After → Water → Debris → Infrastructure → Terrain →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Show RGB, then toggle cyan water, copper debris and violet mapped buildings.</a:t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Ask the source question, inspect the trace and open the TIFF/CSV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34412-3771-4D92-B53E-51236C51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A9C9D5"/>
                </a:solidFill>
              </a:defRPr>
            </a:defPPr>
            <a:lvl1pPr>
              <a:defRPr sz="1575">
                <a:solidFill>
                  <a:srgbClr val="A9C9D5"/>
                </a:solidFill>
              </a:defRPr>
            </a:lvl1pPr>
            <a:lvl2pPr>
              <a:defRPr sz="1575">
                <a:solidFill>
                  <a:srgbClr val="A9C9D5"/>
                </a:solidFill>
              </a:defRPr>
            </a:lvl2pPr>
            <a:lvl3pPr>
              <a:defRPr sz="1575">
                <a:solidFill>
                  <a:srgbClr val="A9C9D5"/>
                </a:solidFill>
              </a:defRPr>
            </a:lvl3pPr>
            <a:lvl4pPr>
              <a:defRPr sz="1575">
                <a:solidFill>
                  <a:srgbClr val="A9C9D5"/>
                </a:solidFill>
              </a:defRPr>
            </a:lvl4pPr>
            <a:lvl5pPr>
              <a:defRPr sz="1575">
                <a:solidFill>
                  <a:srgbClr val="A9C9D5"/>
                </a:solidFill>
              </a:defRPr>
            </a:lvl5pPr>
            <a:lvl6pPr>
              <a:defRPr sz="1575">
                <a:solidFill>
                  <a:srgbClr val="A9C9D5"/>
                </a:solidFill>
              </a:defRPr>
            </a:lvl6pPr>
            <a:lvl7pPr>
              <a:defRPr sz="1575">
                <a:solidFill>
                  <a:srgbClr val="A9C9D5"/>
                </a:solidFill>
              </a:defRPr>
            </a:lvl7pPr>
            <a:lvl8pPr>
              <a:defRPr sz="1575">
                <a:solidFill>
                  <a:srgbClr val="A9C9D5"/>
                </a:solidFill>
              </a:defRPr>
            </a:lvl8pPr>
            <a:lvl9pPr>
              <a:defRPr sz="1575">
                <a:solidFill>
                  <a:srgbClr val="A9C9D5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RGB is verified for 10 of 17 retained examples; 7 remain unavailable.</a:t>
            </a:r>
          </a:p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Overlay switches change display, not measurements.</a:t>
            </a:r>
          </a:p>
        </p:txBody>
      </p:sp>
    </p:spTree>
    <p:extLst>
      <p:ext uri="{BB962C8B-B14F-4D97-AF65-F5344CB8AC3E}">
        <p14:creationId xmlns:p14="http://schemas.microsoft.com/office/powerpoint/2010/main" val="6224818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FE499-AA36-4E97-A5D6-5D4A21D7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FFFFFF"/>
                </a:solidFill>
              </a:defRPr>
            </a:defPPr>
            <a:lvl1pPr>
              <a:defRPr sz="3450">
                <a:solidFill>
                  <a:srgbClr val="FFFFFF"/>
                </a:solidFill>
              </a:defRPr>
            </a:lvl1pPr>
            <a:lvl2pPr>
              <a:defRPr sz="3450">
                <a:solidFill>
                  <a:srgbClr val="FFFFFF"/>
                </a:solidFill>
              </a:defRPr>
            </a:lvl2pPr>
            <a:lvl3pPr>
              <a:defRPr sz="3450">
                <a:solidFill>
                  <a:srgbClr val="FFFFFF"/>
                </a:solidFill>
              </a:defRPr>
            </a:lvl3pPr>
            <a:lvl4pPr>
              <a:defRPr sz="3450">
                <a:solidFill>
                  <a:srgbClr val="FFFFFF"/>
                </a:solidFill>
              </a:defRPr>
            </a:lvl4pPr>
            <a:lvl5pPr>
              <a:defRPr sz="3450">
                <a:solidFill>
                  <a:srgbClr val="FFFFFF"/>
                </a:solidFill>
              </a:defRPr>
            </a:lvl5pPr>
            <a:lvl6pPr>
              <a:defRPr sz="3450">
                <a:solidFill>
                  <a:srgbClr val="FFFFFF"/>
                </a:solidFill>
              </a:defRPr>
            </a:lvl6pPr>
            <a:lvl7pPr>
              <a:defRPr sz="3450">
                <a:solidFill>
                  <a:srgbClr val="FFFFFF"/>
                </a:solidFill>
              </a:defRPr>
            </a:lvl7pPr>
            <a:lvl8pPr>
              <a:defRPr sz="3450">
                <a:solidFill>
                  <a:srgbClr val="FFFFFF"/>
                </a:solidFill>
              </a:defRPr>
            </a:lvl8pPr>
            <a:lvl9pPr>
              <a:defRPr sz="34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>
                <a:solidFill>
                  <a:srgbClr val="FFFFFF"/>
                </a:solidFill>
              </a:defRPr>
            </a:pPr>
            <a:r>
              <a:rPr sz="3450">
                <a:solidFill>
                  <a:srgbClr val="FFFFFF"/>
                </a:solidFill>
              </a:rPr>
              <a:t>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FDBAF-534A-456F-AEB4-4077C3F5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DEE4EB"/>
                </a:solidFill>
              </a:defRPr>
            </a:defPPr>
            <a:lvl1pPr>
              <a:defRPr sz="2100">
                <a:solidFill>
                  <a:srgbClr val="DEE4EB"/>
                </a:solidFill>
              </a:defRPr>
            </a:lvl1pPr>
            <a:lvl2pPr>
              <a:defRPr sz="2100">
                <a:solidFill>
                  <a:srgbClr val="DEE4EB"/>
                </a:solidFill>
              </a:defRPr>
            </a:lvl2pPr>
            <a:lvl3pPr>
              <a:defRPr sz="2100">
                <a:solidFill>
                  <a:srgbClr val="DEE4EB"/>
                </a:solidFill>
              </a:defRPr>
            </a:lvl3pPr>
            <a:lvl4pPr>
              <a:defRPr sz="2100">
                <a:solidFill>
                  <a:srgbClr val="DEE4EB"/>
                </a:solidFill>
              </a:defRPr>
            </a:lvl4pPr>
            <a:lvl5pPr>
              <a:defRPr sz="2100">
                <a:solidFill>
                  <a:srgbClr val="DEE4EB"/>
                </a:solidFill>
              </a:defRPr>
            </a:lvl5pPr>
            <a:lvl6pPr>
              <a:defRPr sz="2100">
                <a:solidFill>
                  <a:srgbClr val="DEE4EB"/>
                </a:solidFill>
              </a:defRPr>
            </a:lvl6pPr>
            <a:lvl7pPr>
              <a:defRPr sz="2100">
                <a:solidFill>
                  <a:srgbClr val="DEE4EB"/>
                </a:solidFill>
              </a:defRPr>
            </a:lvl7pPr>
            <a:lvl8pPr>
              <a:defRPr sz="2100">
                <a:solidFill>
                  <a:srgbClr val="DEE4EB"/>
                </a:solidFill>
              </a:defRPr>
            </a:lvl8pPr>
            <a:lvl9pPr>
              <a:defRPr sz="2100">
                <a:solidFill>
                  <a:srgbClr val="DEE4EB"/>
                </a:solidFill>
              </a:defRPr>
            </a:lvl9pPr>
          </a:lstStyle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258 Python tests passed</a:t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6 optical interaction contract tests passed</a:t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36 Nepal source/API checks passed</a:t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17 retained real examples inspected</a:t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All 15 frozen Nepal artifacts hash-verified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D3D6D-85D4-444D-9CBA-E5C3A53D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A9C9D5"/>
                </a:solidFill>
              </a:defRPr>
            </a:defPPr>
            <a:lvl1pPr>
              <a:defRPr sz="1575">
                <a:solidFill>
                  <a:srgbClr val="A9C9D5"/>
                </a:solidFill>
              </a:defRPr>
            </a:lvl1pPr>
            <a:lvl2pPr>
              <a:defRPr sz="1575">
                <a:solidFill>
                  <a:srgbClr val="A9C9D5"/>
                </a:solidFill>
              </a:defRPr>
            </a:lvl2pPr>
            <a:lvl3pPr>
              <a:defRPr sz="1575">
                <a:solidFill>
                  <a:srgbClr val="A9C9D5"/>
                </a:solidFill>
              </a:defRPr>
            </a:lvl3pPr>
            <a:lvl4pPr>
              <a:defRPr sz="1575">
                <a:solidFill>
                  <a:srgbClr val="A9C9D5"/>
                </a:solidFill>
              </a:defRPr>
            </a:lvl4pPr>
            <a:lvl5pPr>
              <a:defRPr sz="1575">
                <a:solidFill>
                  <a:srgbClr val="A9C9D5"/>
                </a:solidFill>
              </a:defRPr>
            </a:lvl5pPr>
            <a:lvl6pPr>
              <a:defRPr sz="1575">
                <a:solidFill>
                  <a:srgbClr val="A9C9D5"/>
                </a:solidFill>
              </a:defRPr>
            </a:lvl6pPr>
            <a:lvl7pPr>
              <a:defRPr sz="1575">
                <a:solidFill>
                  <a:srgbClr val="A9C9D5"/>
                </a:solidFill>
              </a:defRPr>
            </a:lvl7pPr>
            <a:lvl8pPr>
              <a:defRPr sz="1575">
                <a:solidFill>
                  <a:srgbClr val="A9C9D5"/>
                </a:solidFill>
              </a:defRPr>
            </a:lvl8pPr>
            <a:lvl9pPr>
              <a:defRPr sz="1575">
                <a:solidFill>
                  <a:srgbClr val="A9C9D5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Earlier narrative browser checks passed. Latest RGB / fixed-shell rendered QA is incomplete.</a:t>
            </a:r>
          </a:p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The Nepal question workflow is deterministic; no AI model is invoked.</a:t>
            </a:r>
          </a:p>
        </p:txBody>
      </p:sp>
    </p:spTree>
    <p:extLst>
      <p:ext uri="{BB962C8B-B14F-4D97-AF65-F5344CB8AC3E}">
        <p14:creationId xmlns:p14="http://schemas.microsoft.com/office/powerpoint/2010/main" val="888279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3E2AD-1D67-4B7D-9285-CDFF86DD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FFFFFF"/>
                </a:solidFill>
              </a:defRPr>
            </a:defPPr>
            <a:lvl1pPr>
              <a:defRPr sz="3450">
                <a:solidFill>
                  <a:srgbClr val="FFFFFF"/>
                </a:solidFill>
              </a:defRPr>
            </a:lvl1pPr>
            <a:lvl2pPr>
              <a:defRPr sz="3450">
                <a:solidFill>
                  <a:srgbClr val="FFFFFF"/>
                </a:solidFill>
              </a:defRPr>
            </a:lvl2pPr>
            <a:lvl3pPr>
              <a:defRPr sz="3450">
                <a:solidFill>
                  <a:srgbClr val="FFFFFF"/>
                </a:solidFill>
              </a:defRPr>
            </a:lvl3pPr>
            <a:lvl4pPr>
              <a:defRPr sz="3450">
                <a:solidFill>
                  <a:srgbClr val="FFFFFF"/>
                </a:solidFill>
              </a:defRPr>
            </a:lvl4pPr>
            <a:lvl5pPr>
              <a:defRPr sz="3450">
                <a:solidFill>
                  <a:srgbClr val="FFFFFF"/>
                </a:solidFill>
              </a:defRPr>
            </a:lvl5pPr>
            <a:lvl6pPr>
              <a:defRPr sz="3450">
                <a:solidFill>
                  <a:srgbClr val="FFFFFF"/>
                </a:solidFill>
              </a:defRPr>
            </a:lvl6pPr>
            <a:lvl7pPr>
              <a:defRPr sz="3450">
                <a:solidFill>
                  <a:srgbClr val="FFFFFF"/>
                </a:solidFill>
              </a:defRPr>
            </a:lvl7pPr>
            <a:lvl8pPr>
              <a:defRPr sz="3450">
                <a:solidFill>
                  <a:srgbClr val="FFFFFF"/>
                </a:solidFill>
              </a:defRPr>
            </a:lvl8pPr>
            <a:lvl9pPr>
              <a:defRPr sz="34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>
                <a:solidFill>
                  <a:srgbClr val="FFFFFF"/>
                </a:solidFill>
              </a:defRPr>
            </a:pPr>
            <a:r>
              <a:rPr sz="3450">
                <a:solidFill>
                  <a:srgbClr val="FFFFFF"/>
                </a:solidFill>
              </a:rPr>
              <a:t>Contributions and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B2E8B-A75A-41CB-AE6F-AEA54F23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DEE4EB"/>
                </a:solidFill>
              </a:defRPr>
            </a:defPPr>
            <a:lvl1pPr>
              <a:defRPr sz="2100">
                <a:solidFill>
                  <a:srgbClr val="DEE4EB"/>
                </a:solidFill>
              </a:defRPr>
            </a:lvl1pPr>
            <a:lvl2pPr>
              <a:defRPr sz="2100">
                <a:solidFill>
                  <a:srgbClr val="DEE4EB"/>
                </a:solidFill>
              </a:defRPr>
            </a:lvl2pPr>
            <a:lvl3pPr>
              <a:defRPr sz="2100">
                <a:solidFill>
                  <a:srgbClr val="DEE4EB"/>
                </a:solidFill>
              </a:defRPr>
            </a:lvl3pPr>
            <a:lvl4pPr>
              <a:defRPr sz="2100">
                <a:solidFill>
                  <a:srgbClr val="DEE4EB"/>
                </a:solidFill>
              </a:defRPr>
            </a:lvl4pPr>
            <a:lvl5pPr>
              <a:defRPr sz="2100">
                <a:solidFill>
                  <a:srgbClr val="DEE4EB"/>
                </a:solidFill>
              </a:defRPr>
            </a:lvl5pPr>
            <a:lvl6pPr>
              <a:defRPr sz="2100">
                <a:solidFill>
                  <a:srgbClr val="DEE4EB"/>
                </a:solidFill>
              </a:defRPr>
            </a:lvl6pPr>
            <a:lvl7pPr>
              <a:defRPr sz="2100">
                <a:solidFill>
                  <a:srgbClr val="DEE4EB"/>
                </a:solidFill>
              </a:defRPr>
            </a:lvl7pPr>
            <a:lvl8pPr>
              <a:defRPr sz="2100">
                <a:solidFill>
                  <a:srgbClr val="DEE4EB"/>
                </a:solidFill>
              </a:defRPr>
            </a:lvl8pPr>
            <a:lvl9pPr>
              <a:defRPr sz="2100">
                <a:solidFill>
                  <a:srgbClr val="DEE4EB"/>
                </a:solidFill>
              </a:defRPr>
            </a:lvl9pPr>
          </a:lstStyle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Prior work: SATQuery specialists, Flood Lab science and saved Nepal observations.</a:t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JAI work: verified bridge, terrain context, deterministic tools, external intake,</a:t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independent evaluation, Nepal narrative and switchable source overlays.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DEE4EB"/>
                </a:solidFill>
              </a:defRPr>
            </a:pPr>
            <a:r>
              <a:rPr sz="2100">
                <a:solidFill>
                  <a:srgbClr val="DEE4EB"/>
                </a:solidFill>
              </a:rPr>
              <a:t>Codex assisted implementation, tests and documentation.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30E78-9960-4513-BEAE-EEDE2A2F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A9C9D5"/>
                </a:solidFill>
              </a:defRPr>
            </a:defPPr>
            <a:lvl1pPr>
              <a:defRPr sz="1575">
                <a:solidFill>
                  <a:srgbClr val="A9C9D5"/>
                </a:solidFill>
              </a:defRPr>
            </a:lvl1pPr>
            <a:lvl2pPr>
              <a:defRPr sz="1575">
                <a:solidFill>
                  <a:srgbClr val="A9C9D5"/>
                </a:solidFill>
              </a:defRPr>
            </a:lvl2pPr>
            <a:lvl3pPr>
              <a:defRPr sz="1575">
                <a:solidFill>
                  <a:srgbClr val="A9C9D5"/>
                </a:solidFill>
              </a:defRPr>
            </a:lvl3pPr>
            <a:lvl4pPr>
              <a:defRPr sz="1575">
                <a:solidFill>
                  <a:srgbClr val="A9C9D5"/>
                </a:solidFill>
              </a:defRPr>
            </a:lvl4pPr>
            <a:lvl5pPr>
              <a:defRPr sz="1575">
                <a:solidFill>
                  <a:srgbClr val="A9C9D5"/>
                </a:solidFill>
              </a:defRPr>
            </a:lvl5pPr>
            <a:lvl6pPr>
              <a:defRPr sz="1575">
                <a:solidFill>
                  <a:srgbClr val="A9C9D5"/>
                </a:solidFill>
              </a:defRPr>
            </a:lvl6pPr>
            <a:lvl7pPr>
              <a:defRPr sz="1575">
                <a:solidFill>
                  <a:srgbClr val="A9C9D5"/>
                </a:solidFill>
              </a:defRPr>
            </a:lvl7pPr>
            <a:lvl8pPr>
              <a:defRPr sz="1575">
                <a:solidFill>
                  <a:srgbClr val="A9C9D5"/>
                </a:solidFill>
              </a:defRPr>
            </a:lvl8pPr>
            <a:lvl9pPr>
              <a:defRPr sz="1575">
                <a:solidFill>
                  <a:srgbClr val="A9C9D5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Debris is an unvalidated vegetation-to-bare + NDVI-loss + SAR-change proxy.</a:t>
            </a:r>
          </a:p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Access NOT_ASSESSED. No depth, damage, evacuation or forecast claim.</a:t>
            </a:r>
          </a:p>
          <a:p xmlns:a="http://schemas.openxmlformats.org/drawingml/2006/main">
            <a:pPr>
              <a:defRPr sz="1575">
                <a:solidFill>
                  <a:srgbClr val="A9C9D5"/>
                </a:solidFill>
              </a:defRPr>
            </a:pPr>
            <a:r>
              <a:rPr sz="1575">
                <a:solidFill>
                  <a:srgbClr val="A9C9D5"/>
                </a:solidFill>
              </a:rPr>
              <a:t>Repository: github.com/Yoriichi-GOD/SATquery-AI</a:t>
            </a:r>
          </a:p>
        </p:txBody>
      </p:sp>
    </p:spTree>
    <p:extLst>
      <p:ext uri="{BB962C8B-B14F-4D97-AF65-F5344CB8AC3E}">
        <p14:creationId xmlns:p14="http://schemas.microsoft.com/office/powerpoint/2010/main" val="924801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2026-10-31T06:50:18.7030000Z</dcterms:created>
  <dcterms:modified xsi:type="dcterms:W3CDTF">2026-10-31T06:50:18.7030000Z</dcterms:modified>
</coreProperties>
</file>